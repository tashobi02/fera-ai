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AGENTS.md (What we are building, AMD-AGENTS-2/6); docs/spec/D7_Closing_Pack_V2.md V2 release contract; docs/execution/PHASE_4_SUBMISSION.md AMD-4-1.</a:t>
            </a:r>
          </a:p>
          <a:p/>
          <a:p>
            <a:r>
              <a:t>Honest copy: the title avoids alert/rescue/police/CID claims. Working baseline is 14 Oct 2026 22:00; organiser extension cutoff/date/email/formats are UNKNOWN. No claim of deployed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AGENTS.md Non-negotiables (review before submit, AI retrieves and ranks; people decide, role-scoped DTOs); D1 BR-002/004/022/024; D7 §V2 release contract.</a:t>
            </a:r>
          </a:p>
          <a:p/>
          <a:p>
            <a:r>
              <a:t>Plain wording: 'Coordinates' / 'Does not' mirrors the project's honest-copy principle; nothing claims alert, rescue 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D3 SCREEN-001/002/003/005; D1 BR-004; FR-001/004/006/026; AGENTS.md Principle I (Review before submit).</a:t>
            </a:r>
          </a:p>
          <a:p/>
          <a:p>
            <a:r>
              <a:t>Honest wording: typed path is the guaranteed path; voice captures PCM WAV only, webm unsupported. Cached extraction is labelled [MOCK] on screen. Provider availability is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D3 SCREEN-004; D1 BR-002 (drafts only), BR-003; AGENTS.md Principle VI.</a:t>
            </a:r>
          </a:p>
          <a:p/>
          <a:p>
            <a:r>
              <a:t>Plain wording: each card labels itself a draft. No claim of filing, posting or placing a call on behalf of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D3 SCREEN-007/009/010; D1 BR-001/012/013/017/018/024; AGENTS.md Principles II, III, IV.</a:t>
            </a:r>
          </a:p>
          <a:p/>
          <a:p>
            <a:r>
              <a:t>Honest copy: similarity, not identity; one transaction; verified officers only; referral is recorded (simulation).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AGENTS.md Principle VI; D1 BR-026; D6 TASK-039–043.</a:t>
            </a:r>
          </a:p>
          <a:p/>
          <a:p>
            <a:r>
              <a:t>Explicit policy: every metric shows its denominator and failures, or says 'not measured'. No frozen numeric figures are presented as results. Counters distinguish missing rows, found rows and confirmed pairs; they are not a census of unique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D7 §4 (OQ list); PHASE_4_SUBMISSION.md AMD-4-1; AGENTS.md Principles VI and VII.</a:t>
            </a:r>
          </a:p>
          <a:p/>
          <a:p>
            <a:r>
              <a:t>Plain wording: nothing is presented as a result that has not been measured. TASK-045 demo footage, production, gate clearance, upload and submission remain blocked until the working build is signed off and organiser evidence is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FERA · BANGLA-FIRST CASE COORDINATION · SYNTHETIC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4F4F6"/>
                </a:solidFill>
                <a:latin typeface="Inter"/>
              </a:rPr>
              <a:t>Reviewed Bangla reports. Officer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DCDCD"/>
                </a:solidFill>
                <a:latin typeface="Inter"/>
              </a:rPr>
              <a:t>Reviewed intake, similarity-ranked candidates, and verified officer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377440" cy="365760"/>
          </a:xfrm>
          <a:prstGeom prst="rect">
            <a:avLst/>
          </a:prstGeom>
          <a:solidFill>
            <a:srgbClr val="153040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133088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7C1FF"/>
                </a:solidFill>
                <a:latin typeface="Inter"/>
              </a:rPr>
              <a:t>Synthetic only · No real child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114800"/>
            <a:ext cx="2377440" cy="365760"/>
          </a:xfrm>
          <a:prstGeom prst="rect">
            <a:avLst/>
          </a:prstGeom>
          <a:solidFill>
            <a:srgbClr val="403510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4133088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C533"/>
                </a:solidFill>
                <a:latin typeface="Inter"/>
              </a:rPr>
              <a:t>[MOCK] officer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114800"/>
            <a:ext cx="2377440" cy="365760"/>
          </a:xfrm>
          <a:prstGeom prst="rect">
            <a:avLst/>
          </a:prstGeom>
          <a:solidFill>
            <a:srgbClr val="101111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4133088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9C9C9D"/>
                </a:solidFill>
                <a:latin typeface="Inter"/>
              </a:rPr>
              <a:t>Referral recorded (simulation)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114800"/>
            <a:ext cx="2377440" cy="365760"/>
          </a:xfrm>
          <a:prstGeom prst="rect">
            <a:avLst/>
          </a:prstGeom>
          <a:solidFill>
            <a:srgbClr val="101111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4133088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9C9C9D"/>
                </a:solidFill>
                <a:latin typeface="Inter"/>
              </a:rPr>
              <a:t>Draft outputs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C9C9D"/>
                </a:solidFill>
                <a:latin typeface="Inter"/>
              </a:rPr>
              <a:t>Round 2 working baseline 14 Oct 2026 · Organiser cutoff UNKNOWN · Built for review, not for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WHAT FERA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Inter"/>
              </a:rPr>
              <a:t>A coordination workspace, not a notification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5303520" cy="338328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7C1FF"/>
                </a:solidFill>
                <a:latin typeface="Inter"/>
              </a:rPr>
              <a:t>Coordinates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A parent reports a missing child by voice or typed Bangla.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Staff log an invented found-report description.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A verified officer compares ranked candidates and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records a decision; counts are updated.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Output drafts (GD text, poster, summary) are generated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from reviewed fields and labelled 'Draft — submit yourself'.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303520" cy="338328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533"/>
                </a:solidFill>
                <a:latin typeface="Inter"/>
              </a:rPr>
              <a:t>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Send alerts to police or CID.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Auto-confirm, auto-close, or guess fields.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Take custody, return, or reunify children.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Store report payload server-side before the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reporter confirms (metadata only is held).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Run synthetic provider processing without an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on-screen notice (COMP-050 notice required).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Show candidates or other-party data to anyone</a:t>
            </a:r>
          </a:p>
          <a:p>
            <a:pPr algn="l"/>
            <a:r>
              <a:rPr sz="1400" b="0" i="0">
                <a:solidFill>
                  <a:srgbClr val="CDCDCD"/>
                </a:solidFill>
                <a:latin typeface="Inter"/>
              </a:rPr>
              <a:t>except verified officers.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Sourced from AGENTS.md non-negotiables and D7 V2 release contract.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INTAKE · REVIEW BEFORE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4F4F6"/>
                </a:solidFill>
                <a:latin typeface="Inter"/>
              </a:rPr>
              <a:t>Typed intake plus cached extraction [MOCK].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810512" cy="237744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B6C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Inter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1536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Consent notice.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Bangla or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232" y="2377440"/>
            <a:ext cx="1810512" cy="237744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B6C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78892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Inter"/>
              </a:rPr>
              <a:t>Speak or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3246120"/>
            <a:ext cx="1536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Voice: PCM WAV only.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WebM not supported.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Transcript editable.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75504" y="2377440"/>
            <a:ext cx="1810512" cy="237744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B6C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78892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Inter"/>
              </a:rPr>
              <a:t>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3246120"/>
            <a:ext cx="1536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Missing fields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asked one at a time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in Bangla.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2377440"/>
            <a:ext cx="1810512" cy="237744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B6C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78892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Inter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246120"/>
            <a:ext cx="1536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Every field shown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with its source span.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Unknown stays unknown.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8048" y="2377440"/>
            <a:ext cx="1810512" cy="237744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8" y="2514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B6C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278892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Inter"/>
              </a:rPr>
              <a:t>Confirm and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3246120"/>
            <a:ext cx="1536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Stores the reviewed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report; idempotent</a:t>
            </a:r>
          </a:p>
          <a:p>
            <a:pPr algn="l"/>
            <a:r>
              <a:rPr sz="1100" b="0" i="0">
                <a:solidFill>
                  <a:srgbClr val="CDCDCD"/>
                </a:solidFill>
                <a:latin typeface="Inter"/>
              </a:rPr>
              <a:t>on client UUID.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Live AI provider availability is unverified. Cached outputs [MOCK] are labelled on screen and in narration.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C9C9D"/>
                </a:solidFill>
                <a:latin typeface="Inter"/>
              </a:rPr>
              <a:t>Before submit: server holds only expiry, counter, hash and cost metadata; no report payload is stored (BR-004, FR-006).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Sources: D3 SCREEN-001–005; D1 BR-004, FR-001/004/006/026; AGENTS.md Principle 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OUTPUTS · DRAFTS, NOT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4F4F6"/>
                </a:solidFill>
                <a:latin typeface="Inter"/>
              </a:rPr>
              <a:t>Manual review-before-submit, fixed templates, draft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047" y="2377440"/>
            <a:ext cx="3383280" cy="320040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047" y="2377440"/>
            <a:ext cx="3383280" cy="91440"/>
          </a:xfrm>
          <a:prstGeom prst="rect">
            <a:avLst/>
          </a:prstGeom>
          <a:solidFill>
            <a:srgbClr val="57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647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Inter"/>
              </a:rPr>
              <a:t>GD draft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320040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Fixed template over reviewed fields.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Label 'Draft — submit yourself / Draft — submit yourself' is always visible.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Fera does not file a GD.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207" y="2377440"/>
            <a:ext cx="3383280" cy="320040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207" y="2377440"/>
            <a:ext cx="3383280" cy="91440"/>
          </a:xfrm>
          <a:prstGeom prst="rect">
            <a:avLst/>
          </a:prstGeom>
          <a:solidFill>
            <a:srgbClr val="FFC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Inter"/>
              </a:rPr>
              <a:t>Poster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Fixed layout with synthetic fields only.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No photos, faces or exact locations.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Share and download are the parent's 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0367" y="2377440"/>
            <a:ext cx="3383280" cy="320040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0367" y="2377440"/>
            <a:ext cx="3383280" cy="91440"/>
          </a:xfrm>
          <a:prstGeom prst="rect">
            <a:avLst/>
          </a:prstGeom>
          <a:solidFill>
            <a:srgbClr val="59D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8967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Inter"/>
              </a:rPr>
              <a:t>13219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8967" y="320040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Brief, plain-language summary of the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parent's own reviewed fields.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tel:13219 link provided; Fera does not place the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Sources: D3 SCREEN-004; D1 BR-002, BR-003; AGENTS.md Principle VI (Honest by construction).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OFFICER REVIEW · SIMILARITY, NOT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4F4F6"/>
                </a:solidFill>
                <a:latin typeface="Inter"/>
              </a:rPr>
              <a:t>Staff entry, verified officer review, human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303520" cy="393192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7C1FF"/>
                </a:solidFill>
                <a:latin typeface="Inter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1. Staff log an invented found-child description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   (synthetic fields, no photos).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2. Matcher ranks candidates using filters,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   cosine similarity and a soft district bonus.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3. Verified officer opens the side-by-side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   evidence view and reads each source span.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4. Officer confirms or rejects with a reason.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5. System records a [MOCK] referral and writes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   an append-only audit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5303520" cy="393192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533"/>
                </a:solidFill>
                <a:latin typeface="Inter"/>
              </a:rPr>
              <a:t>Reviewer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Score is 'similarity' — not identity probability.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Zero qualified candidates is a valid result.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Shared phone alone never establishes the same child.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Confirmation is one transaction: lock both rows,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recheck versions, void competitors, write audit.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Candidates and other-party data stay scoped</a:t>
            </a:r>
          </a:p>
          <a:p>
            <a:pPr algn="l"/>
            <a:r>
              <a:rPr sz="1300" b="0" i="0">
                <a:solidFill>
                  <a:srgbClr val="CDCDCD"/>
                </a:solidFill>
                <a:latin typeface="Inter"/>
              </a:rPr>
              <a:t>to verified officers (BR-024).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Sources: D3 SCREEN-007/009/010/011; D1 BR-001/012/013/017/018/024; AGENTS.md Principles II, III, IV.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EVALUATION · FROZEN METRICS NOT MEASURED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4F4F6"/>
                </a:solidFill>
                <a:latin typeface="Inter"/>
              </a:rPr>
              <a:t>Each metric is 'not measured' until the live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0515600" cy="566928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Inter"/>
              </a:rPr>
              <a:t>Matching precision @k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28600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not measured — held-out run not executed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10515600" cy="566928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Inter"/>
              </a:rPr>
              <a:t>Word error rate (WER)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not measured — no reviewed 60-clip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66160"/>
            <a:ext cx="10515600" cy="566928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Inter"/>
              </a:rPr>
              <a:t>End-to-end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56616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not measured — live latency not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10515600" cy="566928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Inter"/>
              </a:rPr>
              <a:t>Total spend (USD)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not measured — no live paid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46320"/>
            <a:ext cx="10515600" cy="566928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Inter"/>
              </a:rPr>
              <a:t>Duplicate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84632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FFC533"/>
                </a:solidFill>
                <a:latin typeface="Inter"/>
              </a:rPr>
              <a:t>not measured — manifest not frozen; thresholds 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solidFill>
            <a:srgbClr val="403510"/>
          </a:solidFill>
          <a:ln>
            <a:solidFill>
              <a:srgbClr val="FFC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C533"/>
                </a:solidFill>
                <a:latin typeface="Inter"/>
              </a:rPr>
              <a:t>Each metric is 'not measured' until the live run. Denominator and failures will be shown when measured (BR-026, Principle VI).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Sources: AGENTS.md Principle VI; D1 BR-026; D6 TASK-039–043.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7080A"/>
          </a:solidFill>
          <a:ln w="6350"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6B6C"/>
                </a:solidFill>
                <a:latin typeface="Inter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4F4F6"/>
                </a:solidFill>
                <a:latin typeface="Inter"/>
              </a:rPr>
              <a:t>What this prototype does not do, and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303520" cy="402336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533"/>
                </a:solidFill>
                <a:latin typeface="Inter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Synthetic data only — no real child records, faces or coordinates.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Officer verification is [MOCK]; referral is a recorded simulation.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Live AI provider availability and account configuration are unverified.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Voice intake supports PCM WAV only; webm is unsupported.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Cached outputs [MOCK] are labelled and never hidden.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No alert, runaway, rescue, police/CID-integration or legal-compliance claim.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5303520" cy="4023360"/>
          </a:xfrm>
          <a:prstGeom prst="rect">
            <a:avLst/>
          </a:prstGeom>
          <a:solidFill>
            <a:srgbClr val="0D0D0D"/>
          </a:solidFill>
          <a:ln>
            <a:solidFill>
              <a:srgbClr val="24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7C1FF"/>
                </a:solidFill>
                <a:latin typeface="Inter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Run the frozen held-out evaluation (TASK-043) and publish denominators.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Confirm organiser cutoff, channel and formats before submission.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Execute LINK-CHECK before sending and again after delivery.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Capture TASK-045 actual demo footage once the working build is signed off.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Resolve OQ-011 (PDPA specifics) and OQ-018 (referral agency) before any pilot.</a:t>
            </a:r>
          </a:p>
          <a:p>
            <a:pPr algn="l"/>
            <a:r>
              <a:rPr sz="1200" b="0" i="0">
                <a:solidFill>
                  <a:srgbClr val="CDCDCD"/>
                </a:solidFill>
                <a:latin typeface="Inter"/>
              </a:rPr>
              <a:t>•  Plan partner hand-off only after external identity and guardian procedures are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C9C9D"/>
                </a:solidFill>
                <a:latin typeface="Inter"/>
              </a:rPr>
              <a:t>Sources: D7 §4 clarifications still needed; PHASE_4_SUBMISSION.md AMD-4-1; AGENTS.md Principles VI, VII.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