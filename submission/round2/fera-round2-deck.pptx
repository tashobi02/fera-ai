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(What we are building, AMD-AGENTS-2/6); docs/spec/D7_Closing_Pack_V2.md V2 release contract; docs/execution/PHASE_4_SUBMISSION.md AMD-4-1.</a:t>
            </a:r>
          </a:p>
          <a:p/>
          <a:p>
            <a:r>
              <a:t>Honest copy: the title avoids alert/rescue/police/CID claims. Prepared for the 18 Oct 2026 22:00 (GMT+6) prototype submission on the organiser platform. No claim of deployed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Non-negotiables (review before submit, AI retrieves and ranks; people decide, role-scoped DTOs); D1 BR-002/004/022/024; D7 §V2 release contract.</a:t>
            </a:r>
          </a:p>
          <a:p/>
          <a:p>
            <a:r>
              <a:t>Plain wording: 'Coordinates' / 'Does not' mirrors the project's honest-copy principle; nothing claims alert, rescue or delivery.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SCREEN-001/002/003/005; D1 BR-004; FR-001/004/006/026; AGENTS.md Principle I (Review before submit).</a:t>
            </a:r>
          </a:p>
          <a:p/>
          <a:p>
            <a:r>
              <a:t>Honest wording: typed path is the guaranteed path; voice captures PCM WAV only, webm unsupported. Cached extraction is labelled [MOCK] on screen. Provider availability is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SCREEN-004; D1 BR-002 (drafts only), BR-003; AGENTS.md Principle VI.</a:t>
            </a:r>
          </a:p>
          <a:p/>
          <a:p>
            <a:r>
              <a:t>Plain wording: each card labels itself a draft. No claim of filing, posting or placing a call on behalf of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D3 SCREEN-007/009/010; D1 BR-001/012/013/017/018/024; AGENTS.md Principles II, III, IV.</a:t>
            </a:r>
          </a:p>
          <a:p/>
          <a:p>
            <a:r>
              <a:t>Honest copy: similarity, not identity; one transaction; verified officers only; referral is recorded (simulation).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AGENTS.md Principle VI; D1 BR-026; D6 TASK-039–043.</a:t>
            </a:r>
          </a:p>
          <a:p/>
          <a:p>
            <a:r>
              <a:t>Explicit policy: every metric shows its denominator and failures, or says 'not measured'. No frozen numeric figures are presented as results. Counters distinguish missing rows, found rows and confirmed pairs; they are not a census of unique children.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README.md status block; package.json scripts; find src/app -name page.tsx (16); find src/app/api -name route.ts (22); db/schema_v2.sql; CI run 39116451104.</a:t>
            </a:r>
          </a:p>
          <a:p/>
          <a:p>
            <a:r>
              <a:t>Plain wording: these are software checks on synthetic data. They do not establish human acceptance, production readiness or matcher quality at release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D7 §4 (OQ list); PHASE_4_SUBMISSION.md AMD-4-1; AGENTS.md Principles VI and VII.</a:t>
            </a:r>
          </a:p>
          <a:p/>
          <a:p>
            <a:r>
              <a:t>Plain wording: nothing is presented as a result that has not been measured. Production deployment, frozen evaluation and human studies are next steps, not completed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FERA · BANGLA-FIRST CASE COORDINATION · SYNTHETIC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4F4F6"/>
                </a:solidFill>
                <a:latin typeface="Inter"/>
              </a:rPr>
              <a:t>Reviewed Bangla reports. Officer decisions.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CDCDCD"/>
                </a:solidFill>
                <a:latin typeface="Inter"/>
              </a:rPr>
              <a:t>Reviewed intake, similarity-ranked candidates, and verified officer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2377440" cy="365760"/>
          </a:xfrm>
          <a:prstGeom prst="rect">
            <a:avLst/>
          </a:prstGeom>
          <a:solidFill>
            <a:srgbClr val="153040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7C1FF"/>
                </a:solidFill>
                <a:latin typeface="Inter"/>
              </a:rPr>
              <a:t>Synthetic only · No real child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4114800"/>
            <a:ext cx="2377440" cy="365760"/>
          </a:xfrm>
          <a:prstGeom prst="rect">
            <a:avLst/>
          </a:prstGeom>
          <a:solidFill>
            <a:srgbClr val="403510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C533"/>
                </a:solidFill>
                <a:latin typeface="Inter"/>
              </a:rPr>
              <a:t>[MOCK] officer verification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4114800"/>
            <a:ext cx="2377440" cy="365760"/>
          </a:xfrm>
          <a:prstGeom prst="rect">
            <a:avLst/>
          </a:prstGeom>
          <a:solidFill>
            <a:srgbClr val="101111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1675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9C9C9D"/>
                </a:solidFill>
                <a:latin typeface="Inter"/>
              </a:rPr>
              <a:t>Referral recorded (simulation)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4114800"/>
            <a:ext cx="2377440" cy="365760"/>
          </a:xfrm>
          <a:prstGeom prst="rect">
            <a:avLst/>
          </a:prstGeom>
          <a:solidFill>
            <a:srgbClr val="101111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77072" y="4133088"/>
            <a:ext cx="22311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9C9C9D"/>
                </a:solidFill>
                <a:latin typeface="Inter"/>
              </a:rPr>
              <a:t>Draft outputs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C9C9D"/>
                </a:solidFill>
                <a:latin typeface="Inter"/>
              </a:rPr>
              <a:t>Hack for Humanity Bangladesh 2026 · Synthetic-data prototype · Built for review, not for delivery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WHAT FERA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4F4F6"/>
                </a:solidFill>
                <a:latin typeface="Inter"/>
              </a:rPr>
              <a:t>A coordination workspace, not a notification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5303520" cy="338328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Coordinates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 parent reports a missing child by voice or typed Bangla.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Staff log an invented found-report description.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 verified officer compares ranked candidates and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records a decision; counts are updated.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/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Output drafts (GD text, poster, summary) are generated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from reviewed fields and labelled 'Draft — submit yourself'.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77440"/>
            <a:ext cx="5303520" cy="338328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Does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Send alerts to police or CID.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Auto-confirm, auto-close, or guess fields.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Take custody, return, or reunify children.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Store report payload server-side before the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reporter confirms (metadata only is held).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Run synthetic provider processing without an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on-screen notice (COMP-050 notice required).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Show candidates or other-party data to anyone</a:t>
            </a:r>
          </a:p>
          <a:p>
            <a:pPr algn="l"/>
            <a:r>
              <a:rPr sz="1400" b="0" i="0">
                <a:solidFill>
                  <a:srgbClr val="CDCDCD"/>
                </a:solidFill>
                <a:latin typeface="Inter"/>
              </a:rPr>
              <a:t>except verified officers.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0350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Sourced from AGENTS.md non-negotiables and D7 V2 release contract.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INTAKE · REVIEW BEFORE SUBMIT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4F4F6"/>
                </a:solidFill>
                <a:latin typeface="Inter"/>
              </a:rPr>
              <a:t>Typed intake plus cached extraction [MOCK].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Consent notice.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Bangla or English.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2999232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392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Speak or type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Voice: PCM WAV only.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WebM not supported.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Transcript editable.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75504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2664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2664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Follow-up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Missing fields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asked one at a time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in Bangla.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51776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8936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936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Every field shown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with its source span.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Unknown stays unknown.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28048" y="2377440"/>
            <a:ext cx="1810512" cy="237744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65208" y="25146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A6B6C"/>
                </a:solidFill>
                <a:latin typeface="Inter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5208" y="2788920"/>
            <a:ext cx="153619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4F4F6"/>
                </a:solidFill>
                <a:latin typeface="Inter"/>
              </a:rPr>
              <a:t>Confirm and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3246120"/>
            <a:ext cx="153619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Stores the reviewed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report; idempotent</a:t>
            </a:r>
          </a:p>
          <a:p>
            <a:pPr algn="l"/>
            <a:r>
              <a:rPr sz="1100" b="0" i="0">
                <a:solidFill>
                  <a:srgbClr val="CDCDCD"/>
                </a:solidFill>
                <a:latin typeface="Inter"/>
              </a:rPr>
              <a:t>on client UUID.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Live AI provider availability is unverified. Cached outputs [MOCK] are labelled on screen and in narration.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86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C9C9D"/>
                </a:solidFill>
                <a:latin typeface="Inter"/>
              </a:rPr>
              <a:t>Before submit: server holds only expiry, counter, hash and cost metadata; no report payload is stored (BR-004, FR-006).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SCREEN-001–005; D1 BR-004, FR-001/004/006/026; AGENTS.md Principle 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OUTPUTS · DRAFTS, NOT FILINGS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Manual review-before-submit, fixed templates, draft outputs.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04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8047" y="2377440"/>
            <a:ext cx="3383280" cy="91440"/>
          </a:xfrm>
          <a:prstGeom prst="rect">
            <a:avLst/>
          </a:prstGeom>
          <a:solidFill>
            <a:srgbClr val="57C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664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GD draft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64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Fixed template over reviewed fields.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Label 'Draft — submit yourself / Draft — submit yourself' is always visible.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Fera does not file a GD.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20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04207" y="2377440"/>
            <a:ext cx="3383280" cy="91440"/>
          </a:xfrm>
          <a:prstGeom prst="rect">
            <a:avLst/>
          </a:prstGeom>
          <a:solidFill>
            <a:srgbClr val="FFC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280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Poster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280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Fixed layout with synthetic fields only.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No photos, faces or exact locations.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Share and download are the parent's actions.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0367" y="2377440"/>
            <a:ext cx="3383280" cy="320040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70367" y="2377440"/>
            <a:ext cx="3383280" cy="91440"/>
          </a:xfrm>
          <a:prstGeom prst="rect">
            <a:avLst/>
          </a:prstGeom>
          <a:solidFill>
            <a:srgbClr val="59D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8967" y="26517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4F4F6"/>
                </a:solidFill>
                <a:latin typeface="Inter"/>
              </a:rPr>
              <a:t>13219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8967" y="3200400"/>
            <a:ext cx="29260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Brief, plain-language summary of the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parent's own reviewed fields.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tel:13219 link provided; Fera does not place the call.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SCREEN-004; D1 BR-002, BR-003; AGENTS.md Principle VI (Honest by construction).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OFFICER REVIEW · SIMILARITY, NOT IDENTITY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Staff entry, verified officer review, human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303520" cy="393192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1. Staff log an invented found-child description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(synthetic fields, no photos).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2. Matcher ranks candidates using filters,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cosine similarity and a soft district bonus.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3. Verified officer opens the side-by-side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evidence view and reads each source span.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4. Officer confirms or rejects with a reason.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5. System records a [MOCK] referral and writes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   an append-only audit 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86000"/>
            <a:ext cx="5303520" cy="393192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Reviewer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Score is 'similarity' — not identity probability.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Zero qualified candidates is a valid result.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Shared phone alone never establishes the same child.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Confirmation is one transaction: lock both rows,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recheck versions, void competitors, write audit.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Candidates and other-party data stay scoped</a:t>
            </a:r>
          </a:p>
          <a:p>
            <a:pPr algn="l"/>
            <a:r>
              <a:rPr sz="1300" b="0" i="0">
                <a:solidFill>
                  <a:srgbClr val="CDCDCD"/>
                </a:solidFill>
                <a:latin typeface="Inter"/>
              </a:rPr>
              <a:t>to verified officers (BR-024).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D3 SCREEN-007/009/010/011; D1 BR-001/012/013/017/018/024; AGENTS.md Principles II, III, IV.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EVALUATION · FROZEN METRICS NOT MEASURED YET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Each metric is 'not measured' until the live run.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Matching precision @k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28600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held-out run not executed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Word error rate (WER)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no reviewed 60-clip 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6616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56616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End-to-end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56616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live latency not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20624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0624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Total spend (USD)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20624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no live paid calls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846320"/>
            <a:ext cx="10515600" cy="566928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846320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4F4F6"/>
                </a:solidFill>
                <a:latin typeface="Inter"/>
              </a:rPr>
              <a:t>Duplicate precision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846320"/>
            <a:ext cx="59436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FFC533"/>
                </a:solidFill>
                <a:latin typeface="Inter"/>
              </a:rPr>
              <a:t>not measured — manifest not frozen; thresholds TBD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532120"/>
            <a:ext cx="10515600" cy="365760"/>
          </a:xfrm>
          <a:prstGeom prst="rect">
            <a:avLst/>
          </a:prstGeom>
          <a:solidFill>
            <a:srgbClr val="403510"/>
          </a:solidFill>
          <a:ln>
            <a:solidFill>
              <a:srgbClr val="FFC5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5321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Each metric is 'not measured' until the live run. Denominator and failures will be shown when measured (BR-026, Principle VI).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AGENTS.md Principle VI; D1 BR-026; D6 TASK-039–043.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WHAT WE BUILT · SYNTHETIC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A working app, tested end to end on synthetic records.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5303520" cy="35661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16 screens for parents, staff, officers and admins; Bangla and English.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22 API routes: Zod input, role guard, per-role DTO, error envelope.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PostgreSQL 16 + pgvector in hand-written SQL; one-transaction confirm; append-only audit.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Matcher: hard filters, multilingual-e5-small similarity, readable reasons.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Bangla normaliser; LLM and speech adapters with labelled fallback.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Duplicate detection; 64-district counts with an accessible 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194560"/>
            <a:ext cx="5303520" cy="35661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9D499"/>
                </a:solidFill>
                <a:latin typeface="Inter"/>
              </a:rPr>
              <a:t>How it is checked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8346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3,693 unit tests pass (308 skipped).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320 PostgreSQL + pgvector tests pass, fresh database per file.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78 Playwright + axe browser checks pass (desktop and mobile emulation).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Strict TypeScript; lint 0 errors; remote CI green.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Eleven specialist reviews, with a safeguarding gate on every PR.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Software checks only: no human study or production run yet.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C9C9D"/>
                </a:solidFill>
                <a:latin typeface="Inter"/>
              </a:rPr>
              <a:t>Team: Mahim (lead, platform) · Obidit (intake, AI, outputs) · Masnun (data, matching, officer workflow)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447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A6B6C"/>
                </a:solidFill>
                <a:latin typeface="Inter"/>
              </a:rPr>
              <a:t>Counts: README verification at application commit 9155963 and remote CI; typecheck, lint and unit re-run 18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solidFill>
            <a:srgbClr val="07080A"/>
          </a:solidFill>
          <a:ln w="6350"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6A6B6C"/>
                </a:solidFill>
                <a:latin typeface="Inter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4F4F6"/>
                </a:solidFill>
                <a:latin typeface="Inter"/>
              </a:rPr>
              <a:t>What this prototype does not do, and what comes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86000"/>
            <a:ext cx="5303520" cy="40233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C533"/>
                </a:solidFill>
                <a:latin typeface="Inter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Synthetic data only — no real child records, faces or coordinates.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Officer verification is [MOCK]; referral is a recorded simulation.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Live AI provider availability and account configuration are unverified.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Voice intake supports PCM WAV only; webm is unsupported.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Cached outputs [MOCK] are labelled and never hidden.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No alert, runaway, rescue, police/CID-integration or legal-compliance claim.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86000"/>
            <a:ext cx="5303520" cy="4023360"/>
          </a:xfrm>
          <a:prstGeom prst="rect">
            <a:avLst/>
          </a:prstGeom>
          <a:solidFill>
            <a:srgbClr val="0D0D0D"/>
          </a:solidFill>
          <a:ln>
            <a:solidFill>
              <a:srgbClr val="2427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7C1FF"/>
                </a:solidFill>
                <a:latin typeface="Inter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926080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Run the frozen held-out evaluation (TASK-043) and publish denominators.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Human Bangla review of copy and a timed study with real participants.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Configure a live AI provider within the USD 25 cap and deploy a hosted demo.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Resolve OQ-011 (PDPA specifics) and OQ-018 (referral agency) before any pilot.</a:t>
            </a:r>
          </a:p>
          <a:p>
            <a:pPr algn="l"/>
            <a:r>
              <a:rPr sz="1200" b="0" i="0">
                <a:solidFill>
                  <a:srgbClr val="CDCDCD"/>
                </a:solidFill>
                <a:latin typeface="Inter"/>
              </a:rPr>
              <a:t>•  Plan partner hand-off only after external identity and guardian procedures are confirmed.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9C9C9D"/>
                </a:solidFill>
                <a:latin typeface="Inter"/>
              </a:rPr>
              <a:t>Sources: D7 §4 clarifications still needed; PHASE_4_SUBMISSION.md AMD-4-1; AGENTS.md Principles VI, VII.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